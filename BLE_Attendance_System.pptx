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D801C36-9AB5-4EDB-A70E-CE6288AE95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289F21E-7293-4628-8BC1-BE285DEF4E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0EB415-6A86-4A83-B869-846A8094BF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676AE5-6F06-40CC-8FA3-E3663E884C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ABB9E3-EA28-45AB-8633-5B63D167BD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AB4CBB-6B7E-476F-B82D-FCA255C01D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C48D00-ABBB-4258-AC89-D2FA672A98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EE912A-038E-40C9-84DF-A5365FD2D7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AE2ABB-E645-4CA6-AAD6-0DF712F47D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21E85F-A451-40A3-8D1E-760881DB33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00400A-83BE-4993-B29B-05E64FE0D1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C91550-32AD-41E3-97EB-8836DC710B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FE00D1-1703-469E-9E05-A2030B94BA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936000" y="1760040"/>
            <a:ext cx="10252800" cy="26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Autonomous BLE Attendance System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801"/>
              </a:spcAft>
              <a:buClr>
                <a:srgbClr val="94A3B8"/>
              </a:buClr>
              <a:buFont typeface="OpenSymbol"/>
              <a:buAutoNum type="arabicParenR"/>
            </a:pPr>
            <a:r>
              <a:rPr lang="en-US" sz="2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Zero External Hardware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801"/>
              </a:spcAft>
              <a:buClr>
                <a:srgbClr val="94A3B8"/>
              </a:buClr>
              <a:buFont typeface="OpenSymbol"/>
              <a:buAutoNum type="arabicParenR"/>
            </a:pPr>
            <a:r>
              <a:rPr lang="en-US" sz="2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Zero Manual Roll Calls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801"/>
              </a:spcAft>
              <a:buClr>
                <a:srgbClr val="94A3B8"/>
              </a:buClr>
              <a:buFont typeface="OpenSymbol"/>
              <a:buAutoNum type="arabicParenR"/>
            </a:pPr>
            <a:r>
              <a:rPr lang="en-US" sz="2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Tamper-Proof Social Mesh Graph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731520" y="457200"/>
            <a:ext cx="10698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31520" y="411840"/>
            <a:ext cx="106981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The Problem: Traditional Attendance is Broken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3"/>
          <p:cNvSpPr/>
          <p:nvPr/>
        </p:nvSpPr>
        <p:spPr>
          <a:xfrm>
            <a:off x="731520" y="1645920"/>
            <a:ext cx="332820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914400" y="1828800"/>
            <a:ext cx="2962440" cy="33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01. Manual Roll Calls &amp; Paper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Wastes 3-5 minutes of lecture time in every class.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Rampant 'proxy attendance' (calling out roll for an absent friend).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Sign-in paper sheets get passed around, lost, or forged.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Papers are tediusly hard to manage.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5"/>
          <p:cNvSpPr/>
          <p:nvPr/>
        </p:nvSpPr>
        <p:spPr>
          <a:xfrm>
            <a:off x="4425840" y="1645920"/>
            <a:ext cx="332820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4608720" y="1828800"/>
            <a:ext cx="2962440" cy="361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02. QR Codes &amp; GPS Fencing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QR codes can be instantly shared over WhatsApp.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Students at home can scan the photo and get marked present.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GPS does not work very well indoors 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GPS margin of error (+/- 15m) cannot distinguish inside vs. outside corridor.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7"/>
          <p:cNvSpPr/>
          <p:nvPr/>
        </p:nvSpPr>
        <p:spPr>
          <a:xfrm>
            <a:off x="8119800" y="1645920"/>
            <a:ext cx="332820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8302680" y="1828800"/>
            <a:ext cx="2962440" cy="41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03. Biometrics &amp; Hardware Beacons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Fingerprint scanners form massive bottlenecks (queues of 60+ students).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Facial recognition is slow, privacy-invasive, and fooled by high-res photos.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ESP32 wall beacons require manual installation &amp; battery maintenance.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Hardware beacons can be stolen, unplugged, or physically cloned.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731520" y="457200"/>
            <a:ext cx="10698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731880" y="428040"/>
            <a:ext cx="106981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Evolutionary Engineering: Lessons from Physical Radio Failures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3"/>
          <p:cNvSpPr/>
          <p:nvPr/>
        </p:nvSpPr>
        <p:spPr>
          <a:xfrm>
            <a:off x="731520" y="1645920"/>
            <a:ext cx="332820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914400" y="1828800"/>
            <a:ext cx="2962440" cy="25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Attempt 1: 2-Beacon Differential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Failed: The Doorway Trap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Concept: Ratio between Teacher at podium and 1 child beacon at back wall.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Physical Failure: Signal ratio (+10 dB) produced identical hyperbolic curves 1m inside and 1m outside the door.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Conclusion: RSSI distance is scalar (no direction vector); cannot distinguish doorway spoofers.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5"/>
          <p:cNvSpPr/>
          <p:nvPr/>
        </p:nvSpPr>
        <p:spPr>
          <a:xfrm>
            <a:off x="4425840" y="1645920"/>
            <a:ext cx="332820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4608720" y="1828800"/>
            <a:ext cx="2962440" cy="277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Attempt 2: 3-Beacon Triangulation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Failed: Metal Resonant Cavity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Concept: Elect 2 corner students to triangulate classroom bounds.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Physical Failure: Concrete/metal reinforcement walls acted as RF waveguides. Back row received -70 dBm (reflections), middle got -82 dBm (body water absorption).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Conclusion: Middle student was elected as farthest beacon every time!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7"/>
          <p:cNvSpPr/>
          <p:nvPr/>
        </p:nvSpPr>
        <p:spPr>
          <a:xfrm>
            <a:off x="8119800" y="1645920"/>
            <a:ext cx="332820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8302680" y="1828800"/>
            <a:ext cx="2962440" cy="29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Attempt 3: Pure BLE Multi-Hop Relay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Failed: Packet Clashes &amp; Buffer Limits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Concept: Offline students broadcast 20-byte relay vouchers over air.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Physical Failure: Radio collision storm when 10+ students broadcast vouchers at once; 24-byte BLE payload limit; high packet loss.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Conclusion: Discard active multi-hop relays; adopt pure cloud-audited in-degree graph witnessing.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731520" y="457200"/>
            <a:ext cx="10698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CORE ARCHITECTURE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731520" y="731520"/>
            <a:ext cx="106981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Our Final Solution: Proximity vs. Transport Separation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3"/>
          <p:cNvSpPr/>
          <p:nvPr/>
        </p:nvSpPr>
        <p:spPr>
          <a:xfrm>
            <a:off x="731520" y="1645920"/>
            <a:ext cx="512028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1005840" y="1828800"/>
            <a:ext cx="4571640" cy="250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JOB 1: PROXIMITY SENSING (BLE)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Role: Pure local physical presence radar.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Answers: 'Am I physically sitting 1 meter away from Student B?'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Protocol: Low-power BLE whispers (&lt; 2.5m range, median &gt;= -85 dBm).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Duration: Exactly 5 seconds at class start.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Hardware: Standard smartphone BLE radio (Zero external hardware).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5"/>
          <p:cNvSpPr/>
          <p:nvPr/>
        </p:nvSpPr>
        <p:spPr>
          <a:xfrm>
            <a:off x="6217920" y="1645920"/>
            <a:ext cx="52117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6492240" y="1828800"/>
            <a:ext cx="4663080" cy="278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JOB 2: TRANSPORT &amp; AUDIT (CLOUD API)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Role: Secure data aggregation &amp; mathematical proof audit.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Answers: 'Does the reported topology form a legitimate cluster?'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Protocol: Encrypted HTTPS REST endpoints via FastAPI.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Speed: Audits 100+ students in under 15ms in cloud memory.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Persistence: Permanent PostgreSQL records with roll number links.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731520" y="457200"/>
            <a:ext cx="10698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ALGORITHM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731520" y="731520"/>
            <a:ext cx="106981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Social Mesh Graph Engine: Bilateral Affinity Scoring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3"/>
          <p:cNvSpPr/>
          <p:nvPr/>
        </p:nvSpPr>
        <p:spPr>
          <a:xfrm>
            <a:off x="73152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868680" y="1828800"/>
            <a:ext cx="2194200" cy="19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Direct Mutual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1.00 Score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A ∈ P(B) and B ∈ P(A)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Both students reciprocally heard each other's 5s whisper. Proven physical desk neighbors.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5"/>
          <p:cNvSpPr/>
          <p:nvPr/>
        </p:nvSpPr>
        <p:spPr>
          <a:xfrm>
            <a:off x="345636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3593520" y="1828800"/>
            <a:ext cx="2194200" cy="19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Triadic Closure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0.50 Score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Shares ≥ 2 verified bridges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Student heard by 2 classmates who are already verified mutuals. Propagates presence across rows.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7"/>
          <p:cNvSpPr/>
          <p:nvPr/>
        </p:nvSpPr>
        <p:spPr>
          <a:xfrm>
            <a:off x="618120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6318360" y="1828800"/>
            <a:ext cx="2194200" cy="21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Peer Witness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0.85 Score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Witnessed by ≥ 2 verified peers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Offline students who could not send HTTP packets, but were heard by ≥ 2 verified classmates.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9"/>
          <p:cNvSpPr/>
          <p:nvPr/>
        </p:nvSpPr>
        <p:spPr>
          <a:xfrm>
            <a:off x="890640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9043560" y="1828800"/>
            <a:ext cx="2194200" cy="21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Hallway / Spoofer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0.00 Score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Unreciprocated link or 0 peers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Attacker claiming a student who never heard them, or isolated corridor spoofers. Flagged &amp; rejected.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731520" y="457200"/>
            <a:ext cx="10698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SECURITY MODEL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731520" y="731520"/>
            <a:ext cx="106981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3-Layer Security Architecture: Defense-in-Depth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3"/>
          <p:cNvSpPr/>
          <p:nvPr/>
        </p:nvSpPr>
        <p:spPr>
          <a:xfrm>
            <a:off x="731520" y="1645920"/>
            <a:ext cx="332820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914400" y="1828800"/>
            <a:ext cx="2962440" cy="25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JWT BEARER TOKENS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Layer 1: Cryptographic Digital Identity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Proves: 'Who is holding this phone account?'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Cryptographically signed with HS256 secret.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Enforces strict role authorization (Teacher vs Student).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Prevents submitting attendance under another student's ID.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5"/>
          <p:cNvSpPr/>
          <p:nvPr/>
        </p:nvSpPr>
        <p:spPr>
          <a:xfrm>
            <a:off x="4425840" y="1645920"/>
            <a:ext cx="332820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4608720" y="1828800"/>
            <a:ext cx="2962440" cy="25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DYNAMIC BLE NONCE (SALT)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Layer 2: In-Room Time-Synchronized Nonce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Proves: 'Is this phone physically inside the classroom right now?'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Teacher broadcasts ephemeral rolling salt over BLE (S:&lt;SESSION&gt;:&lt;SALT&gt;).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Cannot be guessed by students at home.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Backend checks salt; mismatches rejected as 'Nice try lil bro'.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7"/>
          <p:cNvSpPr/>
          <p:nvPr/>
        </p:nvSpPr>
        <p:spPr>
          <a:xfrm>
            <a:off x="8119800" y="1645920"/>
            <a:ext cx="332820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8302680" y="1828800"/>
            <a:ext cx="2962440" cy="27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LOW-POWER BLE WHISPERS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Layer 3: Physical Desk Proximity Mesh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Proves: 'Are real classmates physically surrounding this phone?'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Transmitted strictly at TX_POWER_LOW (-15 dBm, &lt;= 2.5m fence).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Walls cause &gt;20 dB attenuation, eliminating corridor spoofers.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Requires in-degree mutual witnessing in graph topology.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731520" y="457200"/>
            <a:ext cx="10698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OFFLINE SAFETY NET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731520" y="731520"/>
            <a:ext cx="106981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Offline Capabilities: Autonomous Presence in Dead Zones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3"/>
          <p:cNvSpPr/>
          <p:nvPr/>
        </p:nvSpPr>
        <p:spPr>
          <a:xfrm>
            <a:off x="731520" y="1645920"/>
            <a:ext cx="106981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1097280" y="1828800"/>
            <a:ext cx="9966600" cy="32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How a Student with Zero Internet / Data Plan is Verified Present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1. In-Room Radio Reception —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The offline student's phone receives the teacher's BLE beacon (S:89F2:9381) via direct radio waves (zero internet required).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2. Near-Field Whisper Probe —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The offline phone broadcasts its 8-byte whisper (89F2OFF1) at TX_POWER_LOW for 5 seconds.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3. Verified Online Neighbors Catch Probe —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Classmates to their left and right (who have cellular data) hear the probe at &gt;= -85 dBm and add 'OFF1' to their Top-3 neighbors.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4. Pure In-Degree Cloud Audit —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The online neighbors submit their lists. The cloud graph engine observes: 'OFF1 submitted no HTTP report, but is witnessed by 2 verified classmates (ST01 and ST02)'. OFF1 is marked VERIFIED_PRESENT (0.85 affinity).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5. Single-Witness Safety Net —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If an offline student sits alone in a corner with only 1 online witness, they are marked ISOLATED_FLAGGED. The teacher confirms visually and verifies them in 1 tap.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/>
          <p:nvPr/>
        </p:nvSpPr>
        <p:spPr>
          <a:xfrm>
            <a:off x="731520" y="457200"/>
            <a:ext cx="10698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MOBILE CLIENT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731520" y="731520"/>
            <a:ext cx="106981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Frontend Architecture: Native Android (Kotlin &amp; Compose)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3"/>
          <p:cNvSpPr/>
          <p:nvPr/>
        </p:nvSpPr>
        <p:spPr>
          <a:xfrm>
            <a:off x="73152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868680" y="1828800"/>
            <a:ext cx="219420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Strict Role Isolation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Zero manual mode toggle.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UI locks to Teacher or Student based on authenticated JWT claims.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Teachers never scan; students never see teacher console.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5"/>
          <p:cNvSpPr/>
          <p:nvPr/>
        </p:nvSpPr>
        <p:spPr>
          <a:xfrm>
            <a:off x="345636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3593520" y="1828800"/>
            <a:ext cx="219420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BLE Hardware Layer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BleAdvertiser: Low-latency service data advertising within 24-byte ceiling.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BleScanner: Hardware UUID scan filter in LOW_LATENCY mode.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Noise rejection filters ambient Bluetooth packets in 0ms.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7"/>
          <p:cNvSpPr/>
          <p:nvPr/>
        </p:nvSpPr>
        <p:spPr>
          <a:xfrm>
            <a:off x="618120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6318360" y="1828800"/>
            <a:ext cx="2194200" cy="21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Jetpack Compose UI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Modern Material 3 reactive layout.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Dual-mode Teacher Console: Broadcast Setup mode &amp; Collapsible Audit Results.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Student telemetry card with live dBm signal meters.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9"/>
          <p:cNvSpPr/>
          <p:nvPr/>
        </p:nvSpPr>
        <p:spPr>
          <a:xfrm>
            <a:off x="890640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9043560" y="1828800"/>
            <a:ext cx="2194200" cy="21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State Management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AttendanceViewModel manages 5-state student machine (Standby -&gt; Probing -&gt; Verified).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Auto session countdown &amp; graceful HTTP error recovery.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Live Compose snapshot reactivity.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731520" y="457200"/>
            <a:ext cx="10698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CLOUD BACKEND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731520" y="731520"/>
            <a:ext cx="106981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Backend Architecture: High-Throughput Cloud Engine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3"/>
          <p:cNvSpPr/>
          <p:nvPr/>
        </p:nvSpPr>
        <p:spPr>
          <a:xfrm>
            <a:off x="73152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868680" y="1828800"/>
            <a:ext cx="2194200" cy="19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FastAPI Async Engine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Python 3.11 with ASGI asynchronous concurrency.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Sub-15ms response latency under heavy classroom load.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Clean modular routing (/auth, /attendance).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5"/>
          <p:cNvSpPr/>
          <p:nvPr/>
        </p:nvSpPr>
        <p:spPr>
          <a:xfrm>
            <a:off x="345636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3593520" y="1828800"/>
            <a:ext cx="2194200" cy="21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PostgreSQL on Neon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Serverless PostgreSQL with auto-scaling compute.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AsyncPG driver with PgBouncer pooling.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5 relational tables: Users, Courses, Sessions, Records, Staging Submissions.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618120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6318360" y="1828800"/>
            <a:ext cx="2194200" cy="23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Ephemeral Staging Table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Multi-worker crash resilience.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Check-ins staged in session_submissions DB table instead of volatile server RAM.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Process-isolated across Uvicorn worker threads.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9"/>
          <p:cNvSpPr/>
          <p:nvPr/>
        </p:nvSpPr>
        <p:spPr>
          <a:xfrm>
            <a:off x="8906400" y="1645920"/>
            <a:ext cx="246852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9043560" y="1828800"/>
            <a:ext cx="2194200" cy="23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Single-Roundtrip Migration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Atomic DO $$ BEGIN...END $$; block at application startup.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Eliminates 35+ WAN roundtrips on cold start.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Production-sanitized error handler prevents credential leakage.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731520" y="457200"/>
            <a:ext cx="10698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VERIFICATION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731520" y="731520"/>
            <a:ext cx="106981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Optimizations, Testing &amp; Key Milestones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3"/>
          <p:cNvSpPr/>
          <p:nvPr/>
        </p:nvSpPr>
        <p:spPr>
          <a:xfrm>
            <a:off x="731520" y="1645920"/>
            <a:ext cx="512028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1005840" y="1828800"/>
            <a:ext cx="46630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Key Engineering Optimizations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5-Second Whisper Window: Reduced radio transmission time from 18.7s to 5.0s, reducing smartphone battery draw by 73%.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Calibrated Proximity Threshold: Tuned median RSSI cutoff to -85 dBm for accurate classroom desk separation without hallway leakage.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Automatic Session Supersede: Expired / abandoned sessions are auto-cancelled to eliminate teacher zombie lockouts.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Auto-Logout on Expiration: Seamless 401 handling gracefully prompts for re-login with 1-year token persistence.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Compose Snapshot Mutation Fix: Optimized peer map updates so RSSI meters and packet counters live-recompose instantly.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5"/>
          <p:cNvSpPr/>
          <p:nvPr/>
        </p:nvSpPr>
        <p:spPr>
          <a:xfrm>
            <a:off x="6309360" y="1645920"/>
            <a:ext cx="5120280" cy="4571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80">
            <a:solidFill>
              <a:schemeClr val="accent1">
                <a:lumMod val="75000"/>
                <a:lumOff val="0"/>
              </a:schemeClr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6583680" y="1828800"/>
            <a:ext cx="466308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1" u="none" strike="noStrike">
                <a:solidFill>
                  <a:srgbClr val="16A34A"/>
                </a:solidFill>
                <a:effectLst/>
                <a:uFillTx/>
                <a:latin typeface="Calibri"/>
              </a:rPr>
              <a:t>Rigorous Testing &amp; E2E Simulation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100% Pytest Suite Passing: 12 comprehensive unit and integration test suites covering auth, graph algorithms, and security.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30-Student E2E Classroom Mesh Simulation: Simulated 25 online students, 4 offline students, and 1 hallway spoofer across 6 desk clusters.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Simulation Result: Exactly 29 students verified (including all 4 offline students), 1 hallway spoofer rejected with 0.00 score.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Anti-Cheat Verification: Verified that unreciprocated hallway links and invalid salt attempts are trapped and flagged on teacher screen.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Android Build Success: Tested on physical Android devices and compiling cleanly under Gradle 8.7.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chemeClr val="accent1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914400" y="1371600"/>
            <a:ext cx="10332360" cy="28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00" b="1" u="none" strike="noStrike">
                <a:solidFill>
                  <a:srgbClr val="60A5FA"/>
                </a:solidFill>
                <a:effectLst/>
                <a:uFillTx/>
                <a:latin typeface="Calibri"/>
              </a:rPr>
              <a:t>PROJECT SUMMARY &amp; VISION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Frictionless, Autonomous &amp; Tamper-Proof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✓  Eliminates 100% of attendance roll call waste: Classes start in 5 seconds while phones rest in pockets.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✓  Zero hardware budget required: Runs solely on existing smartphones with standard Bluetooth Low Energy.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✓  Robust against fraud: Multi-layer security defeats buddy punchers, hallway proxies, and WhatsApp QR forwarders.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✓  Zero-configuration deployment: Works in any lecture hall without seating charts, room measurements, or calibration.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✓  Resilient offline safety net: Peer witnessing ensures students in basement halls never lose attendance credits.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LibreOffice/26.8.1.1$Linux_X86_64 LibreOffice_project/680$Build-1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2026-10-21T06:10:42Z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